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 Light"/>
              </a:rPr>
              <a:t>Mineração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CDDEE"/>
                </a:solidFill>
                <a:latin typeface="Calibri Light"/>
              </a:rPr>
              <a:t>Regras de Associação no Dataset Instacart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Trabalho Prático — Avaliação do Bimestre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CCEE"/>
                </a:solidFill>
                <a:latin typeface="Calibri"/>
              </a:rPr>
              <a:t>Integrantes: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88BBFF"/>
                </a:solidFill>
                <a:latin typeface="Calibri"/>
              </a:rPr>
              <a:t>▪ </a:t>
            </a:r>
            <a:r>
              <a:rPr sz="1500">
                <a:solidFill>
                  <a:srgbClr val="FFFFFF"/>
                </a:solidFill>
                <a:latin typeface="Calibri"/>
              </a:rPr>
              <a:t>Carlos Alberto Furlan</a:t>
            </a:r>
          </a:p>
          <a:p>
            <a:pPr/>
            <a:r>
              <a:rPr sz="1500" b="1">
                <a:solidFill>
                  <a:srgbClr val="88BBFF"/>
                </a:solidFill>
                <a:latin typeface="Calibri"/>
              </a:rPr>
              <a:t>▪ </a:t>
            </a:r>
            <a:r>
              <a:rPr sz="1500">
                <a:solidFill>
                  <a:srgbClr val="FFFFFF"/>
                </a:solidFill>
                <a:latin typeface="Calibri"/>
              </a:rPr>
              <a:t>Gustavo Henrique Macedo Pena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CCEE"/>
                </a:solidFill>
                <a:latin typeface="Calibri"/>
              </a:rPr>
              <a:t>Algoritmo: FP-Growth  |  Dataset: Instacart Market Basket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AACC"/>
                </a:solidFill>
                <a:latin typeface="Calibri"/>
              </a:rPr>
              <a:t>Apresentação gerada em 26/09/2026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Objetivo e 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D6B"/>
                </a:solidFill>
                <a:latin typeface="Calibri"/>
              </a:rP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Aplicar Mineração de Dados (KDD) com Regras de Associação em base real de grande porte.</a:t>
            </a:r>
          </a:p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Identificar padrões de compra conjunta em 3 níveis de granularidade.</a:t>
            </a:r>
          </a:p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Gerar insights acionáveis para o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D6B"/>
                </a:solidFill>
                <a:latin typeface="Calibri"/>
              </a:rPr>
              <a:t>Problema de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E6DA4"/>
                </a:solidFill>
                <a:latin typeface="Calibri"/>
              </a:rPr>
              <a:t>“Quais produtos, corredores e departamentos são comprados juntos com frequência suficiente para gerar recomendações e estratégias de venda cruzada?”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2E6DA4"/>
                </a:solidFill>
                <a:latin typeface="Calibri"/>
              </a:rPr>
              <a:t>▪ </a:t>
            </a:r>
            <a:r>
              <a:rPr sz="1400">
                <a:solidFill>
                  <a:srgbClr val="333333"/>
                </a:solidFill>
                <a:latin typeface="Calibri"/>
              </a:rPr>
              <a:t>Sistemas de recomendação ("quem levou X, também levou Y")</a:t>
            </a:r>
          </a:p>
          <a:p>
            <a:pPr/>
            <a:r>
              <a:rPr sz="1400" b="1">
                <a:solidFill>
                  <a:srgbClr val="2E6DA4"/>
                </a:solidFill>
                <a:latin typeface="Calibri"/>
              </a:rPr>
              <a:t>▪ </a:t>
            </a:r>
            <a:r>
              <a:rPr sz="1400">
                <a:solidFill>
                  <a:srgbClr val="333333"/>
                </a:solidFill>
                <a:latin typeface="Calibri"/>
              </a:rPr>
              <a:t>Layout físico de loja</a:t>
            </a:r>
          </a:p>
          <a:p>
            <a:pPr/>
            <a:r>
              <a:rPr sz="1400" b="1">
                <a:solidFill>
                  <a:srgbClr val="2E6DA4"/>
                </a:solidFill>
                <a:latin typeface="Calibri"/>
              </a:rPr>
              <a:t>▪ </a:t>
            </a:r>
            <a:r>
              <a:rPr sz="1400">
                <a:solidFill>
                  <a:srgbClr val="333333"/>
                </a:solidFill>
                <a:latin typeface="Calibri"/>
              </a:rPr>
              <a:t>Campanhas promocionais cruzadas</a:t>
            </a:r>
          </a:p>
          <a:p>
            <a:pPr/>
            <a:r>
              <a:rPr sz="1400" b="1">
                <a:solidFill>
                  <a:srgbClr val="2E6DA4"/>
                </a:solidFill>
                <a:latin typeface="Calibri"/>
              </a:rPr>
              <a:t>▪ </a:t>
            </a:r>
            <a:r>
              <a:rPr sz="1400">
                <a:solidFill>
                  <a:srgbClr val="333333"/>
                </a:solidFill>
                <a:latin typeface="Calibri"/>
              </a:rPr>
              <a:t>Gestão de sortimento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Base de Dados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Instacart Market Basket Analysis — Kaggle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Pedidos totais (orders)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3.421.083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Itens em pedidos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32.434.489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Produtos distintos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49.688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Aisles (corredores)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Departments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Arquivos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3D6B"/>
                </a:solidFill>
                <a:latin typeface="Calibri"/>
              </a:rPr>
              <a:t>Estrutura transacional: cada pedido = 1 cesta (lista de produtos comprados).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Amostra: 400.000 pedidos (~12% do total)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Filtro: produtos com frequência ≥ 100 na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Metodologia —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1.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Análise exploratória dos 6 arquivos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2. Amostragem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96596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400k pedidos aleatórios (seed=42)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3. Transações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603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order_id → lista de 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4. Filtro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546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produtos com freq ≥ 100 (5.992 produtos)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5. TransactionEncoder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490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3 granularidades: produto / aisle / 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6. FP-Growth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3434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min_support ajustado por granularidade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7. Regras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93776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association_rules com min_confidence e min_lift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Calibri"/>
              </a:rPr>
              <a:t>8.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5321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top regras + análise de negócio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Análise Exploratória — Top 20 Produtos</a:t>
            </a:r>
          </a:p>
        </p:txBody>
      </p:sp>
      <p:pic>
        <p:nvPicPr>
          <p:cNvPr id="3" name="Picture 2" descr="top20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8227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D6B"/>
                </a:solidFill>
                <a:latin typeface="Calibri"/>
              </a:rPr>
              <a:t>Destaques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Banana: 15,9% das cestas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Bag of Organic Bananas: 12,7%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Organic Strawberries: 9,0%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Organic Baby Spinach: 8,2%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Perfil dominante: frutas, vegetais e orgânicos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Preparação dos Dados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Amostra de 400,000 pedidos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Pedidos amostrados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400,000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Produtos válidos (freq ≥ 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Cestas finais (≥ 2 produtos)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368.250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Tamanho médio das cestas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9,17 produtos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Total de itens preservados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3.378.090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Cobertura de itens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84,36%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E6DA4"/>
                </a:solidFill>
                <a:latin typeface="Calibri"/>
              </a:rPr>
              <a:t>Justificativa: matriz booleana de 3,2M × 49k seria inviável em 16 GB RAM (~160 GB). A amostra preserva &gt; 84% dos itens e captura os padrões fortes.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Algoritmo: FP-Growth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D6B"/>
                </a:solidFill>
                <a:latin typeface="Calibri"/>
              </a:rPr>
              <a:t>Por que FP-Growth?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Apriori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FP-Growth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Estratégia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Gera candidatos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FP-tree + recursão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Passagens pelo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k+1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Uso de memória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Médio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Desempenho em bases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Ruim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Nosso caso (368k × 5.991)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inviável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~55s, ~3 GB RAM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E6DA4"/>
                </a:solidFill>
                <a:latin typeface="Calibri"/>
              </a:rPr>
              <a:t>FP-Growth faz apenas 2 passagens pela base e usa estrutura compacta (FP-tree), sendo ordens de magnitude mais rápido que o Apriori. GPU não traz ganho — algoritmo é essencialmente sequencial.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Itemsets Frequentes Gerados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Granularidade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min_support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Itemsets totais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Itemsets len ≥ 2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Produto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0,001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4.413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2.495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Aisle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0,02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pgrowth_produto_lengt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840480"/>
            <a:ext cx="5760720" cy="2854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Top 5 Regras — Produto (Análise Micro)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Antecedente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Consequente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Suporte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Confiança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Organic Yellow Onion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Organic Garlic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0.0074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0.1930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5.2330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Organic Garlic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Organic Yellow Onion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0.2007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5.2330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Limes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Organic Cilantro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0.0058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0.1220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5.2136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Organic Cilantro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0.2493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5.2136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Large Lemon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Limes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0.0094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0.1825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3.8158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Top 5 Regras — Aisle (Análise Média)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Antecedente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Consequente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Suporte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Confiança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fresh fruits, packaged cheese, yogurt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milk, packaged vegetables fruits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0.0205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0.3057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2.6898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fresh fruits, milk, packaged cheese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packaged vegetables fruits, yogurt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0.3335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2.5888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milk, packaged vegetables fruits, yogurt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fresh fruits, packaged cheese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0.0205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0.3980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2.5304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fresh fruits, packaged cheese, yogurt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fresh vegetables, milk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0.3369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2.5142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fresh vegetables, milk, yogurt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fresh fruits, packaged cheese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0.0226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0.3905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2.4825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Top 5 Regras — Department (Análise Macro)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Antecedente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Consequente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Suporte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Confiança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deli, frozen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dairy eggs, produce, snacks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0.0512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0.4848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1.8377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beverages, deli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dairy eggs, produce, snacks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0.4670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1.7700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bakery, frozen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dairy eggs, produce, snacks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0.0540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0.4669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1.7697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deli, frozen, produce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dairy eggs, snacks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0.5367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1.7265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dairy eggs, frozen, produce, snacks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deli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0.0512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0.4118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1.7137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5 Insights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Recomendação personalizada de produto: regras de alto lift (ex.: alho + cebola, lift = 5,2) para sugerir complementos no carrinho.</a:t>
            </a:r>
          </a:p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Layout físico otimizado: aproximar corredores de frutas, laticínios e vegetais embalados (lift ~2,7).</a:t>
            </a:r>
          </a:p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Promoções cruzadas por seção: combos deli + frozen + snacks aproveitam confiança de 48%.</a:t>
            </a:r>
          </a:p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Foco em produtos frescos: perfil do cliente Instacart é fortemente orientado a fresh produce.</a:t>
            </a:r>
          </a:p>
          <a:p>
            <a:pPr/>
            <a:r>
              <a:rPr sz="1500" b="1">
                <a:solidFill>
                  <a:srgbClr val="2E6DA4"/>
                </a:solidFill>
                <a:latin typeface="Calibri"/>
              </a:rPr>
              <a:t>▪ </a:t>
            </a:r>
            <a:r>
              <a:rPr sz="1500">
                <a:solidFill>
                  <a:srgbClr val="333333"/>
                </a:solidFill>
                <a:latin typeface="Calibri"/>
              </a:rPr>
              <a:t>Segmentação por cesta: clientes deli + frozen são "compradores completos" — alvo ideal para upsell premium.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Limitações e Trabalhos Futuros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Amostra de 400k pedidos (12%)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Filtro removeu produtos raros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Lift inflado em itens de baixo suporte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Análise transversal (sem tempo)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Sem dados demográficos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6DA4"/>
                </a:solidFill>
                <a:latin typeface="Calibri"/>
              </a:rPr>
              <a:t>Trabalhos Futuros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Análise temporal (sazonalidade)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Segmentação por cluster de cliente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Regras sequenciais (PrefixSpan)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Comparação empírica Apriori vs FP-Growth</a:t>
            </a:r>
          </a:p>
          <a:p>
            <a:pPr/>
            <a:r>
              <a:rPr sz="1300" b="1">
                <a:solidFill>
                  <a:srgbClr val="2E6DA4"/>
                </a:solidFill>
                <a:latin typeface="Calibri"/>
              </a:rPr>
              <a:t>▪ </a:t>
            </a:r>
            <a:r>
              <a:rPr sz="1300">
                <a:solidFill>
                  <a:srgbClr val="333333"/>
                </a:solidFill>
                <a:latin typeface="Calibri"/>
              </a:rPr>
              <a:t>Deploy em motor de recomendação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 b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Comparação Empírica: Apriori vs FP-Growth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mesma base, mesmo min_support = 0,005</a:t>
            </a:r>
          </a:p>
        </p:txBody>
      </p:sp>
      <p:pic>
        <p:nvPicPr>
          <p:cNvPr id="3" name="Picture 2" descr="step10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3341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46304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D6B"/>
                </a:solidFill>
                <a:latin typeface="Calibri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2E6DA4"/>
                </a:solidFill>
                <a:latin typeface="Calibri"/>
              </a:rPr>
              <a:t>▪ </a:t>
            </a:r>
            <a:r>
              <a:rPr sz="1200">
                <a:solidFill>
                  <a:srgbClr val="333333"/>
                </a:solidFill>
                <a:latin typeface="Calibri"/>
              </a:rPr>
              <a:t>5k cestas: 2,20x (FP mais rápido)</a:t>
            </a:r>
          </a:p>
          <a:p>
            <a:pPr/>
            <a:r>
              <a:rPr sz="1200" b="1">
                <a:solidFill>
                  <a:srgbClr val="2E6DA4"/>
                </a:solidFill>
                <a:latin typeface="Calibri"/>
              </a:rPr>
              <a:t>▪ </a:t>
            </a:r>
            <a:r>
              <a:rPr sz="1200">
                <a:solidFill>
                  <a:srgbClr val="333333"/>
                </a:solidFill>
                <a:latin typeface="Calibri"/>
              </a:rPr>
              <a:t>40k cestas: 1,16x</a:t>
            </a:r>
          </a:p>
          <a:p>
            <a:pPr/>
            <a:r>
              <a:rPr sz="1200" b="1">
                <a:solidFill>
                  <a:srgbClr val="2E6DA4"/>
                </a:solidFill>
                <a:latin typeface="Calibri"/>
              </a:rPr>
              <a:t>▪ </a:t>
            </a:r>
            <a:r>
              <a:rPr sz="1200">
                <a:solidFill>
                  <a:srgbClr val="333333"/>
                </a:solidFill>
                <a:latin typeface="Calibri"/>
              </a:rPr>
              <a:t>80k cestas: 1,62x</a:t>
            </a:r>
          </a:p>
          <a:p>
            <a:pPr/>
            <a:r>
              <a:rPr sz="1200" b="1">
                <a:solidFill>
                  <a:srgbClr val="2E6DA4"/>
                </a:solidFill>
                <a:latin typeface="Calibri"/>
              </a:rPr>
              <a:t>▪ </a:t>
            </a:r>
            <a:r>
              <a:rPr sz="1200">
                <a:solidFill>
                  <a:srgbClr val="333333"/>
                </a:solidFill>
                <a:latin typeface="Calibri"/>
              </a:rPr>
              <a:t>160k cestas: 16,46x</a:t>
            </a:r>
          </a:p>
          <a:p>
            <a:pPr lvl="1"/>
            <a:r>
              <a:rPr sz="1200" b="1">
                <a:solidFill>
                  <a:srgbClr val="2E6DA4"/>
                </a:solidFill>
                <a:latin typeface="Calibri"/>
              </a:rPr>
              <a:t>– </a:t>
            </a:r>
            <a:r>
              <a:rPr sz="1200">
                <a:solidFill>
                  <a:srgbClr val="333333"/>
                </a:solidFill>
                <a:latin typeface="Calibri"/>
              </a:rPr>
              <a:t>FP-Growth: 14,7 s</a:t>
            </a:r>
          </a:p>
          <a:p>
            <a:pPr lvl="1"/>
            <a:r>
              <a:rPr sz="1200" b="1">
                <a:solidFill>
                  <a:srgbClr val="2E6DA4"/>
                </a:solidFill>
                <a:latin typeface="Calibri"/>
              </a:rPr>
              <a:t>– </a:t>
            </a:r>
            <a:r>
              <a:rPr sz="1200">
                <a:solidFill>
                  <a:srgbClr val="333333"/>
                </a:solidFill>
                <a:latin typeface="Calibri"/>
              </a:rPr>
              <a:t>Apriori: 242,0 s</a:t>
            </a:r>
          </a:p>
          <a:p>
            <a:pPr/>
            <a:r>
              <a:rPr sz="1200" b="1">
                <a:solidFill>
                  <a:srgbClr val="2E6DA4"/>
                </a:solidFill>
                <a:latin typeface="Calibri"/>
              </a:rPr>
              <a:t>▪ </a:t>
            </a:r>
            <a:r>
              <a:rPr sz="1200">
                <a:solidFill>
                  <a:srgbClr val="333333"/>
                </a:solidFill>
                <a:latin typeface="Calibri"/>
              </a:rPr>
              <a:t>Extrapolação para 368k:</a:t>
            </a:r>
          </a:p>
          <a:p>
            <a:pPr lvl="1"/>
            <a:r>
              <a:rPr sz="1200" b="1">
                <a:solidFill>
                  <a:srgbClr val="2E6DA4"/>
                </a:solidFill>
                <a:latin typeface="Calibri"/>
              </a:rPr>
              <a:t>– </a:t>
            </a:r>
            <a:r>
              <a:rPr sz="1200">
                <a:solidFill>
                  <a:srgbClr val="333333"/>
                </a:solidFill>
                <a:latin typeface="Calibri"/>
              </a:rPr>
              <a:t>Apriori seria inviável</a:t>
            </a:r>
          </a:p>
          <a:p>
            <a:pPr lvl="1"/>
            <a:r>
              <a:rPr sz="1200" b="1">
                <a:solidFill>
                  <a:srgbClr val="2E6DA4"/>
                </a:solidFill>
                <a:latin typeface="Calibri"/>
              </a:rPr>
              <a:t>– </a:t>
            </a:r>
            <a:r>
              <a:rPr sz="1200">
                <a:solidFill>
                  <a:srgbClr val="333333"/>
                </a:solidFill>
                <a:latin typeface="Calibri"/>
              </a:rPr>
              <a:t>FP-Growth: ~30-40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FP-Growth aplicado com sucesso em 3 granularidades: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88BBFF"/>
                </a:solidFill>
                <a:latin typeface="Calibri"/>
              </a:rPr>
              <a:t>▪ </a:t>
            </a:r>
            <a:r>
              <a:rPr sz="1400">
                <a:solidFill>
                  <a:srgbClr val="FFFFFF"/>
                </a:solidFill>
                <a:latin typeface="Calibri"/>
              </a:rPr>
              <a:t>Produto: 4.413 itemsets → 144 regras confiáveis (lift até 5,2)</a:t>
            </a:r>
          </a:p>
          <a:p>
            <a:pPr/>
            <a:r>
              <a:rPr sz="1400" b="1">
                <a:solidFill>
                  <a:srgbClr val="88BBFF"/>
                </a:solidFill>
                <a:latin typeface="Calibri"/>
              </a:rPr>
              <a:t>▪ </a:t>
            </a:r>
            <a:r>
              <a:rPr sz="1400">
                <a:solidFill>
                  <a:srgbClr val="FFFFFF"/>
                </a:solidFill>
                <a:latin typeface="Calibri"/>
              </a:rPr>
              <a:t>Aisle: 692 itemsets → 558 regras (lift até 2,7)</a:t>
            </a:r>
          </a:p>
          <a:p>
            <a:pPr/>
            <a:r>
              <a:rPr sz="1400" b="1">
                <a:solidFill>
                  <a:srgbClr val="88BBFF"/>
                </a:solidFill>
                <a:latin typeface="Calibri"/>
              </a:rPr>
              <a:t>▪ </a:t>
            </a:r>
            <a:r>
              <a:rPr sz="1400">
                <a:solidFill>
                  <a:srgbClr val="FFFFFF"/>
                </a:solidFill>
                <a:latin typeface="Calibri"/>
              </a:rPr>
              <a:t>Department: 242 itemsets → 369 regras (conf. até 53%)</a:t>
            </a:r>
          </a:p>
          <a:p>
            <a:pPr/>
            <a:r>
              <a:rPr sz="1400" b="1">
                <a:solidFill>
                  <a:srgbClr val="88BBFF"/>
                </a:solidFill>
                <a:latin typeface="Calibri"/>
              </a:rPr>
              <a:t>▪ </a:t>
            </a:r>
            <a:r>
              <a:rPr sz="1400">
                <a:solidFill>
                  <a:srgbClr val="FFFFFF"/>
                </a:solidFill>
                <a:latin typeface="Calibri"/>
              </a:rPr>
              <a:t>Padrão dominante: cesta saudável (frutas + laticínios + vegetais)</a:t>
            </a:r>
          </a:p>
          <a:p>
            <a:pPr/>
            <a:r>
              <a:rPr sz="1400" b="1">
                <a:solidFill>
                  <a:srgbClr val="88BBFF"/>
                </a:solidFill>
                <a:latin typeface="Calibri"/>
              </a:rPr>
              <a:t>▪ </a:t>
            </a:r>
            <a:r>
              <a:rPr sz="1400">
                <a:solidFill>
                  <a:srgbClr val="FFFFFF"/>
                </a:solidFill>
                <a:latin typeface="Calibri"/>
              </a:rPr>
              <a:t>Insights acionáveis para recomendação, layout e promoções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